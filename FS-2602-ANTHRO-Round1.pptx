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ln w="12700">
            <a:solidFill>
              <a:srgbClr val="C68A2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ln w="12700">
            <a:solidFill>
              <a:srgbClr val="C68A2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5029200"/>
            <a:ext cx="1280160" cy="1280160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 SUBMISSION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Credit Decisioning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Thin-File Borrowers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Deck  —  Architecture, Fairness &amp; Constraint Commitments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5852160" cy="0"/>
          </a:xfrm>
          <a:prstGeom prst="line">
            <a:avLst/>
          </a:prstGeom>
          <a:noFill/>
          <a:ln w="12700">
            <a:solidFill>
              <a:srgbClr val="2C4A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   ·   FinTech Sprint '26   ·   12 September 2026   ·   Lending &amp;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PROBLEM FRAMING · 15 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borrower, one number, one regulator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720840" cy="1481328"/>
          </a:xfrm>
          <a:prstGeom prst="roundRect">
            <a:avLst>
              <a:gd name="adj" fmla="val 555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82496"/>
            <a:ext cx="384048" cy="384048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27632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38528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gig-platform earner or first-time salaried renter with a phone, a bank account, and zero bureau history — rent, utility, and telecom payments are the only trail they have.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6720840" cy="1481328"/>
          </a:xfrm>
          <a:prstGeom prst="roundRect">
            <a:avLst>
              <a:gd name="adj" fmla="val 555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3291840"/>
            <a:ext cx="384048" cy="384048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236976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47872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a thin-file applicant waits on a manual underwriting decision, they are one step closer to an informal lender charging multiples of a formal rate.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700016"/>
            <a:ext cx="6720840" cy="1481328"/>
          </a:xfrm>
          <a:prstGeom prst="roundRect">
            <a:avLst>
              <a:gd name="adj" fmla="val 555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4901184"/>
            <a:ext cx="384048" cy="384048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4632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COST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57216"/>
            <a:ext cx="5715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later, a regulator can demand an exact explanation for one approval and one decline, on the same day, under that day's rules — with proof no prohibited attribute drove either.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1481328"/>
            <a:ext cx="4325112" cy="4700016"/>
          </a:xfrm>
          <a:prstGeom prst="roundRect">
            <a:avLst>
              <a:gd name="adj" fmla="val 1903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0" y="180136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075688"/>
            <a:ext cx="3776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~451M</a:t>
            </a:r>
            <a:endParaRPr lang="en-US" sz="6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538728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have limited or no formal credit facilities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0" y="5221224"/>
            <a:ext cx="3593592" cy="0"/>
          </a:xfrm>
          <a:prstGeom prst="line">
            <a:avLst/>
          </a:prstGeom>
          <a:noFill/>
          <a:ln w="9525">
            <a:solidFill>
              <a:srgbClr val="2C4A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0" y="5358384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TransUnion CIBIL, based on World Bank credit-eligible population estimates (18–80 age group), as of Dec 2024.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FIXED COMMITMENT · SCORED AGAINST FOR THE FULL EVENT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criterion: Equal Opportunity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 for equal True Positive Rate across groups — a qualified (would-repay) applicant has the same chance of approval regardless of group. We explicitly do not force equal approval rates (demographic parity) across groups.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6903720" cy="3520440"/>
          </a:xfrm>
          <a:prstGeom prst="roundRect">
            <a:avLst>
              <a:gd name="adj" fmla="val 2338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89864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DISADVANTAGES — STATED, NOT HIDDEN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617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overall approval rates differ across groups because underlying alt-data profiles differ, we do not equalize that gap. Demographic parity and equal opportunity are mathematically incompatible whenever base rates differ — we chose the criterion that protects individually qualified applicants from being missed, and accept that it does not guarantee equal access at the population level.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71232" y="2606040"/>
            <a:ext cx="4160520" cy="3520440"/>
          </a:xfrm>
          <a:prstGeom prst="roundRect">
            <a:avLst>
              <a:gd name="adj" fmla="val 2338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91272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SO FAR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54112" y="32918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3.68%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936992" y="45720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max−min TPR gap across groups on held-out test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ARCHITECTURE RIGOR · 25 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engines, one frozen contract between them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2395728" cy="1783080"/>
          </a:xfrm>
          <a:prstGeom prst="roundRect">
            <a:avLst>
              <a:gd name="adj" fmla="val 4615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09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Alt-data → feature pipeline → score + top-4 reasons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80944" y="2281428"/>
            <a:ext cx="256032" cy="237744"/>
          </a:xfrm>
          <a:prstGeom prst="rightArrow">
            <a:avLst/>
          </a:prstGeom>
          <a:solidFill>
            <a:srgbClr val="C68A2E"/>
          </a:solidFill>
          <a:ln/>
        </p:spPr>
      </p:sp>
      <p:sp>
        <p:nvSpPr>
          <p:cNvPr id="8" name="Shape 6"/>
          <p:cNvSpPr/>
          <p:nvPr/>
        </p:nvSpPr>
        <p:spPr>
          <a:xfrm>
            <a:off x="3255264" y="1508760"/>
            <a:ext cx="2395728" cy="1783080"/>
          </a:xfrm>
          <a:prstGeom prst="roundRect">
            <a:avLst>
              <a:gd name="adj" fmla="val 4615"/>
            </a:avLst>
          </a:prstGeom>
          <a:solidFill>
            <a:srgbClr val="1F3A63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92424" y="1709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1945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effective-dated eligibility + KYC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2281428"/>
            <a:ext cx="256032" cy="237744"/>
          </a:xfrm>
          <a:prstGeom prst="rightArrow">
            <a:avLst/>
          </a:prstGeom>
          <a:solidFill>
            <a:srgbClr val="C68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1508760"/>
            <a:ext cx="2395728" cy="1783080"/>
          </a:xfrm>
          <a:prstGeom prst="roundRect">
            <a:avLst>
              <a:gd name="adj" fmla="val 4615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80760" y="1709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SNAPSHOT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108192" y="21945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 + rulebook version + inputs, hashed, frozen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57616" y="2281428"/>
            <a:ext cx="256032" cy="237744"/>
          </a:xfrm>
          <a:prstGeom prst="rightArrow">
            <a:avLst/>
          </a:prstGeom>
          <a:solidFill>
            <a:srgbClr val="C6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631936" y="1508760"/>
            <a:ext cx="2395728" cy="1783080"/>
          </a:xfrm>
          <a:prstGeom prst="roundRect">
            <a:avLst>
              <a:gd name="adj" fmla="val 4615"/>
            </a:avLst>
          </a:prstGeom>
          <a:solidFill>
            <a:srgbClr val="1F3A63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769096" y="1709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1945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append-only, tamper-evident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OWNERSHIP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233672"/>
            <a:ext cx="30906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owns feature computation + model version. Rules Engine owns policy + rulebook version. Neither may mutate the other's version once a decision is snapshotted.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293108" y="361188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49140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MODEL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49140" y="4233672"/>
            <a:ext cx="30906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immutable once snapshotted. The audit log is append-only and hash-chained, so history can be read concurrently but never rewritten.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129016" y="361188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85048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85048" y="4233672"/>
            <a:ext cx="30906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Fail-closed: if the Scorer or Rules Engine cannot complete, no decision is emitted — the attempt itself is still logged for audit.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INTEGRATION DESIGN · 25 PTS — THE TIE-BREAK CRITERION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Snapshot is the shared contract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89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domains actively pull against each other: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4E4C1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WANTS TO ITERATE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retraining on fresh data improves AUC — but a retrain silently orphans every past decision's replay if the version isn't pinned.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82512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02552" y="20848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WANTS TO FREEZE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4871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replay byte-identical years later — which fails the moment a model or rule version isn't explicitly recorded per decision.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274552" cy="2148840"/>
          </a:xfrm>
          <a:prstGeom prst="roundRect">
            <a:avLst>
              <a:gd name="adj" fmla="val 3830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251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36008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version independently and freely. Every decision snapshot pins the exact (model_version, rulebook_version) pair active at that moment. Replay never re-resolves "the current model" — it re-runs the exact pinned pair. This is why retraining and reproducibility stop fighting each other: neither engine is ever asked to hold still, only to be nameable.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CONSTRAINT PLAN · 20 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budgets, and how we'll prove we hit them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50566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latency (incl. watchlist)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3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90 seconds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timer in bench/, logged per decision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turnaround, no deploy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3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minutes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Stopwatch demo: author a rule change to live evaluation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 (replay)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3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byte-identical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Self-built replay harness re-runs every snapshot; diffed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screening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3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F1 vs hidden list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name set incl. transliteration, homoglyphs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integrity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13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tamper detection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tamper strategies rehearsed against our own log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492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4E4C1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495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A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MEASURED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75157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decisions replayed byte-identical under rulebook v1; a proposed rule flips 15/50 past decisions via the impact simulator, before it's ever authored live.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STACK JUSTIFICATION · 15 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roads not taken, and why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CECEA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347472" cy="347472"/>
          </a:xfrm>
          <a:prstGeom prst="ellipse">
            <a:avLst/>
          </a:prstGeom>
          <a:solidFill>
            <a:srgbClr val="9C4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00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scorer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500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higher raw AUC, but adverse-action reasons need SHAP or similar post-hoc explanation, which is harder to defend live under the Random Author Challenge and slower to prove deterministic across environments.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336792" y="1481328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CECEA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1719072"/>
            <a:ext cx="347472" cy="347472"/>
          </a:xfrm>
          <a:prstGeom prst="ellipse">
            <a:avLst/>
          </a:prstGeom>
          <a:solidFill>
            <a:srgbClr val="9C4A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282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1700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C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embedded in code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3500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write initially, but every policy change becomes a deploy — fails the &lt; 10 minute, zero-deploy rule turnaround requirement outright, and silently breaks replay on every code change.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74552" cy="2103120"/>
          </a:xfrm>
          <a:prstGeom prst="roundRect">
            <a:avLst>
              <a:gd name="adj" fmla="val 3913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79392"/>
            <a:ext cx="365760" cy="365760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70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+ rules-as-data (JSON, effective-dated) + immutable decision snapshot + hash-chained log.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PROOF OF WORK — BUILT BEFORE THIS DECK, NOT AFTER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running, not just planned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AUC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2287" y="15087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03727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95167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equal-opportunity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gap across groups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67374" y="15087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58814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50254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proxy-leakage AUC on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features (≈ chance)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22462" y="15087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E4E9F2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13902" y="1737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05342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replayed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274552" cy="2331720"/>
          </a:xfrm>
          <a:prstGeom prst="roundRect">
            <a:avLst>
              <a:gd name="adj" fmla="val 3529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PROXY-LEAKAGE CONTRAST — WHY 0.485 MATTERS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53128"/>
            <a:ext cx="10561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auxiliary classifier trying to predict protected group membership from the features our Scorer actually uses scores 0.485 AUC — essentially chance. The same test run on pincode + surname (known proxies we deliberately excluded) scores 1.00 AUC. That contrast is the proof: our test correctly flags real leakage when it exists, and our chosen features don't have it.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TEAM SPLIT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owners, one integrated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92908" cy="3063240"/>
          </a:xfrm>
          <a:prstGeom prst="roundRect">
            <a:avLst>
              <a:gd name="adj" fmla="val 3056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1046" y="1773936"/>
            <a:ext cx="585216" cy="585216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1046" y="1773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32888"/>
            <a:ext cx="232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/ ML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172968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model training, adverse-action reasons, proxy-leakage test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99155" y="1481328"/>
            <a:ext cx="2692908" cy="3063240"/>
          </a:xfrm>
          <a:prstGeom prst="roundRect">
            <a:avLst>
              <a:gd name="adj" fmla="val 3056"/>
            </a:avLst>
          </a:prstGeom>
          <a:solidFill>
            <a:srgbClr val="1F3A63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3001" y="1773936"/>
            <a:ext cx="585216" cy="585216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53001" y="1773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82035" y="2532888"/>
            <a:ext cx="232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/ BACKEND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18611" y="3172968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rulebook store, effective-dating, replay endpoint, impact simulator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1110" y="1481328"/>
            <a:ext cx="2692908" cy="3063240"/>
          </a:xfrm>
          <a:prstGeom prst="roundRect">
            <a:avLst>
              <a:gd name="adj" fmla="val 3056"/>
            </a:avLst>
          </a:prstGeom>
          <a:solidFill>
            <a:srgbClr val="13284B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94956" y="1773936"/>
            <a:ext cx="585216" cy="585216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94956" y="1773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23990" y="2532888"/>
            <a:ext cx="232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AUDIT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60566" y="3172968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log, fairness math, tamper-detection demo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983066" y="1481328"/>
            <a:ext cx="2692908" cy="3063240"/>
          </a:xfrm>
          <a:prstGeom prst="roundRect">
            <a:avLst>
              <a:gd name="adj" fmla="val 3056"/>
            </a:avLst>
          </a:prstGeom>
          <a:solidFill>
            <a:srgbClr val="1F3A63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36912" y="1773936"/>
            <a:ext cx="585216" cy="585216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36912" y="177393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65946" y="2532888"/>
            <a:ext cx="23271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INFRA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02522" y="3172968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API conformance, deployment, observability, docs, AI_LEDGER.md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74552" cy="1371600"/>
          </a:xfrm>
          <a:prstGeom prst="roundRect">
            <a:avLst>
              <a:gd name="adj" fmla="val 6000"/>
            </a:avLst>
          </a:prstGeom>
          <a:solidFill>
            <a:srgbClr val="F4E4C1"/>
          </a:solidFill>
          <a:ln/>
          <a:effectLst>
            <a:outerShdw sx="100000" sy="100000" kx="0" ky="0" algn="bl" rotWithShape="0" blurRad="76200" dist="25400" dir="5400000">
              <a:srgbClr val="1B1F2A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integrated from hour one: the decision pipeline (Scorer → Rules Engine → Snapshot → Audit Log) already runs end-to-end on synthetic data — not two halves waiting to be wired together at hour 9.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6528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FS-2602  ·  ROUND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288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ln w="12700">
            <a:solidFill>
              <a:srgbClr val="C68A2E">
                <a:alpha val="2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haven't proven yet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now, on purpose — not discovered live in Round 3.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02736" cy="3246120"/>
          </a:xfrm>
          <a:prstGeom prst="roundRect">
            <a:avLst>
              <a:gd name="adj" fmla="val 2535"/>
            </a:avLst>
          </a:prstGeom>
          <a:solidFill>
            <a:srgbClr val="1F3A63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697480"/>
            <a:ext cx="457200" cy="457200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30540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of 0.69 is on synthetic data with a designed signal-to-noise ratio; real applicant data may be noisier or cleaner — untested.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3108" y="2423160"/>
            <a:ext cx="3602736" cy="3246120"/>
          </a:xfrm>
          <a:prstGeom prst="roundRect">
            <a:avLst>
              <a:gd name="adj" fmla="val 2535"/>
            </a:avLst>
          </a:prstGeom>
          <a:solidFill>
            <a:srgbClr val="1F3A63"/>
          </a:solidFill>
          <a:ln/>
        </p:spPr>
      </p:sp>
      <p:sp>
        <p:nvSpPr>
          <p:cNvPr id="11" name="Shape 9"/>
          <p:cNvSpPr/>
          <p:nvPr/>
        </p:nvSpPr>
        <p:spPr>
          <a:xfrm>
            <a:off x="4549140" y="2697480"/>
            <a:ext cx="457200" cy="457200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91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67428" y="3383280"/>
            <a:ext cx="30540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screening against adversarial transliteration/homoglyph name variants is not yet built or measured.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2423160"/>
            <a:ext cx="3602736" cy="3246120"/>
          </a:xfrm>
          <a:prstGeom prst="roundRect">
            <a:avLst>
              <a:gd name="adj" fmla="val 2535"/>
            </a:avLst>
          </a:prstGeom>
          <a:solidFill>
            <a:srgbClr val="1F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5048" y="2697480"/>
            <a:ext cx="457200" cy="457200"/>
          </a:xfrm>
          <a:prstGeom prst="ellipse">
            <a:avLst/>
          </a:prstGeom>
          <a:solidFill>
            <a:srgbClr val="C6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50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3383280"/>
            <a:ext cx="30540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H+8 retroactive-feature-ban drill has not been rehearsed end-to-end; our architecture is designed for it, but timing is unproven.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ANTHRO   ·   FS-2602   ·   Round 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FS-2602 — Reproducible Credit Decisioning</dc:title>
  <dc:subject>PptxGenJS Presentation</dc:subject>
  <dc:creator>Team ANTHRO</dc:creator>
  <cp:lastModifiedBy>Team ANTHRO</cp:lastModifiedBy>
  <cp:revision>1</cp:revision>
  <dcterms:created xsi:type="dcterms:W3CDTF">2026-09-12T05:59:25Z</dcterms:created>
  <dcterms:modified xsi:type="dcterms:W3CDTF">2026-09-12T05:59:25Z</dcterms:modified>
</cp:coreProperties>
</file>